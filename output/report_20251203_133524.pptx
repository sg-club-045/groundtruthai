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Automated Insight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Data Analysis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Generated: December 03,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 bIns="9144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lIns="182880" rIns="182880" tIns="91440" bIns="91440"/>
          <a:lstStyle/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Executive Summary: Strategic Performance &amp; Growth Imperatives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Our business exhibits a robust profitability foundation but faces critical challenges impacting revenue growth and competitive positioning. Total Revenue stands at 49,489,500.0 with a healthy Total Profit of 18,749,760.0, yielding a strong Profit Margin of 37.886339526566246% and an impressive ROI of 60.99518083106754. Customer satisfaction remains high with an average Rating of 4.789344262295082 and a low Return Rate of 0.020311475409836063.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Critical Performance Indicators &amp; Threats: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 bIns="9144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Executive Summary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lIns="182880" rIns="182880" tIns="91440" bIns="91440"/>
          <a:lstStyle/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Despite these strengths, a significant concern is the 0.0% revenue growth, indicating stagnation, and a "stable" revenue trend. This is highly problematic given a "growing trend in UnitsSold" and further exacerbated by a concerning negative correlation between UnitsSold and Revenue of -0.17884356001460117. This suggests that increasing unit sales are paradoxically associated with decreasing revenue, a critical anomaly demanding immediate inv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 bIns="9144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lIns="182880" rIns="182880" tIns="91440" bIns="91440"/>
          <a:lstStyle/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Here are 5 strategic business findings extracted from the provided metrics:</a:t>
            </a:r>
            <a:br/>
            <a:br/>
            <a:r>
              <a:t>The business is experiencing a "growing trend in UnitsSold" with a "trenddirection": "increasing", yet "revenuegrowth" is 0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This, combined with the negative correlation between "UnitsSold" and "Revenue" (-0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, indicates that the increase in volume is likely driven by lower-value products or discounts, which dilutes overall revenue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To accelerate revenue, the company should investigate the product mix and pricing strategy behind high-volume sales, as merely increasing "UnitsSold" currently does not translate to revenue growth</a:t>
            </a:r>
          </a:p>
        </p:txBody>
      </p:sp>
      <p:pic>
        <p:nvPicPr>
          <p:cNvPr id="5" name="Picture 4" descr="chart_20251203_133524_2454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7432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 bIns="9144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Data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lIns="182880" rIns="182880" tIns="91440" bIns="91440"/>
          <a:lstStyle/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Total Records: 366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Total Columns: 14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Columns: Date, ProductCategory, ProductName, Region, Channel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 bIns="9144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lIns="182880" rIns="182880" tIns="91440" bIns="91440"/>
          <a:lstStyle/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Capitalize on High-Performing Segments for Immediate Revenue Growth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Mitigate Volatility in Core Metrics to Stabilize Market Share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Optimize Cost Structure and Address Declining Cost Trend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Enhance Customer Experience by Reducing Return Rate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Optimize Marketing Spend for Efficient Customer and Revenue Acquisition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