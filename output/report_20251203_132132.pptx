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86AB"/>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none">
            <a:spAutoFit/>
          </a:bodyPr>
          <a:lstStyle/>
          <a:p>
            <a:pPr algn="ctr">
              <a:defRPr sz="5400" b="1">
                <a:solidFill>
                  <a:srgbClr val="FFFFFF"/>
                </a:solidFill>
              </a:defRPr>
            </a:pPr>
            <a:r>
              <a:t>Automated Insight Engine</a:t>
            </a:r>
          </a:p>
        </p:txBody>
      </p:sp>
      <p:sp>
        <p:nvSpPr>
          <p:cNvPr id="3" name="TextBox 2"/>
          <p:cNvSpPr txBox="1"/>
          <p:nvPr/>
        </p:nvSpPr>
        <p:spPr>
          <a:xfrm>
            <a:off x="457200" y="3840480"/>
            <a:ext cx="8229600" cy="914400"/>
          </a:xfrm>
          <a:prstGeom prst="rect">
            <a:avLst/>
          </a:prstGeom>
          <a:noFill/>
        </p:spPr>
        <p:txBody>
          <a:bodyPr wrap="none">
            <a:spAutoFit/>
          </a:bodyPr>
          <a:lstStyle/>
          <a:p>
            <a:pPr algn="ctr">
              <a:defRPr sz="2800">
                <a:solidFill>
                  <a:srgbClr val="C8C8C8"/>
                </a:solidFill>
              </a:defRPr>
            </a:pPr>
            <a:r>
              <a:t>Data Analysis Report</a:t>
            </a:r>
          </a:p>
        </p:txBody>
      </p:sp>
      <p:sp>
        <p:nvSpPr>
          <p:cNvPr id="4" name="TextBox 3"/>
          <p:cNvSpPr txBox="1"/>
          <p:nvPr/>
        </p:nvSpPr>
        <p:spPr>
          <a:xfrm>
            <a:off x="457200" y="5943600"/>
            <a:ext cx="8229600" cy="457200"/>
          </a:xfrm>
          <a:prstGeom prst="rect">
            <a:avLst/>
          </a:prstGeom>
          <a:noFill/>
        </p:spPr>
        <p:txBody>
          <a:bodyPr wrap="none">
            <a:spAutoFit/>
          </a:bodyPr>
          <a:lstStyle/>
          <a:p>
            <a:pPr algn="ctr">
              <a:defRPr sz="1400">
                <a:solidFill>
                  <a:srgbClr val="969696"/>
                </a:solidFill>
              </a:defRPr>
            </a:pPr>
            <a:r>
              <a:t>Generated: December 03,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2E86AB"/>
          </a:solidFill>
          <a:ln>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822960"/>
          </a:xfrm>
          <a:prstGeom prst="rect">
            <a:avLst/>
          </a:prstGeom>
          <a:noFill/>
        </p:spPr>
        <p:txBody>
          <a:bodyPr wrap="none" bIns="91440">
            <a:spAutoFit/>
          </a:bodyPr>
          <a:lstStyle/>
          <a:p>
            <a:pPr algn="l">
              <a:defRPr sz="3600" b="1">
                <a:solidFill>
                  <a:srgbClr val="FFFFFF"/>
                </a:solidFill>
              </a:defRPr>
            </a:pPr>
            <a:r>
              <a:t>Executive Summary</a:t>
            </a:r>
          </a:p>
        </p:txBody>
      </p:sp>
      <p:sp>
        <p:nvSpPr>
          <p:cNvPr id="4" name="TextBox 3"/>
          <p:cNvSpPr txBox="1"/>
          <p:nvPr/>
        </p:nvSpPr>
        <p:spPr>
          <a:xfrm>
            <a:off x="457200" y="1371600"/>
            <a:ext cx="8229600" cy="5029200"/>
          </a:xfrm>
          <a:prstGeom prst="rect">
            <a:avLst/>
          </a:prstGeom>
          <a:noFill/>
        </p:spPr>
        <p:txBody>
          <a:bodyPr wrap="square" lIns="182880" rIns="182880" tIns="91440" bIns="91440"/>
          <a:lstStyle/>
          <a:p>
            <a:pPr>
              <a:lnSpc>
                <a:spcPct val="130000"/>
              </a:lnSpc>
              <a:spcAft>
                <a:spcPts val="1200"/>
              </a:spcAft>
              <a:defRPr sz="2000">
                <a:solidFill>
                  <a:srgbClr val="323232"/>
                </a:solidFill>
              </a:defRPr>
            </a:pPr>
            <a:r>
              <a:t>Executive Summary: Strategic Performance Review &amp; Growth Imperatives</a:t>
            </a:r>
          </a:p>
          <a:p>
            <a:pPr>
              <a:lnSpc>
                <a:spcPct val="130000"/>
              </a:lnSpc>
              <a:spcAft>
                <a:spcPts val="1200"/>
              </a:spcAft>
              <a:defRPr sz="2000">
                <a:solidFill>
                  <a:srgbClr val="323232"/>
                </a:solidFill>
              </a:defRPr>
            </a:pPr>
            <a:r>
              <a:t>This strategic review indicates a period of exceptional financial performance, demonstrating robust growth and strong profitability that positions the company advantageously. Our analysis reveals critical indicators of success alongside targeted opportunities for accelerated expansion and competitive consolidation.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2E86AB"/>
          </a:solidFill>
          <a:ln>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822960"/>
          </a:xfrm>
          <a:prstGeom prst="rect">
            <a:avLst/>
          </a:prstGeom>
          <a:noFill/>
        </p:spPr>
        <p:txBody>
          <a:bodyPr wrap="none" bIns="91440">
            <a:spAutoFit/>
          </a:bodyPr>
          <a:lstStyle/>
          <a:p>
            <a:pPr algn="l">
              <a:defRPr sz="3600" b="1">
                <a:solidFill>
                  <a:srgbClr val="FFFFFF"/>
                </a:solidFill>
              </a:defRPr>
            </a:pPr>
            <a:r>
              <a:t>Executive Summary (continued)</a:t>
            </a:r>
          </a:p>
        </p:txBody>
      </p:sp>
      <p:sp>
        <p:nvSpPr>
          <p:cNvPr id="4" name="TextBox 3"/>
          <p:cNvSpPr txBox="1"/>
          <p:nvPr/>
        </p:nvSpPr>
        <p:spPr>
          <a:xfrm>
            <a:off x="457200" y="1371600"/>
            <a:ext cx="8229600" cy="5029200"/>
          </a:xfrm>
          <a:prstGeom prst="rect">
            <a:avLst/>
          </a:prstGeom>
          <a:noFill/>
        </p:spPr>
        <p:txBody>
          <a:bodyPr wrap="square" lIns="182880" rIns="182880" tIns="91440" bIns="91440"/>
          <a:lstStyle/>
          <a:p>
            <a:pPr>
              <a:lnSpc>
                <a:spcPct val="130000"/>
              </a:lnSpc>
              <a:spcAft>
                <a:spcPts val="1000"/>
              </a:spcAft>
              <a:defRPr sz="2000">
                <a:solidFill>
                  <a:srgbClr val="323232"/>
                </a:solidFill>
              </a:defRPr>
            </a:pPr>
            <a:r>
              <a:t>Critical Performance Indicators:</a:t>
            </a:r>
          </a:p>
          <a:p>
            <a:pPr>
              <a:lnSpc>
                <a:spcPct val="130000"/>
              </a:lnSpc>
              <a:spcAft>
                <a:spcPts val="1200"/>
              </a:spcAft>
              <a:defRPr sz="2000">
                <a:solidFill>
                  <a:srgbClr val="323232"/>
                </a:solidFill>
              </a:defRPr>
            </a:pPr>
            <a:r>
              <a:t>We are experiencing a "strongly increasing" revenue trend, achieving a total revenue of $134,400 with a remarkable 100% revenue growth over the measured period.</a:t>
            </a:r>
          </a:p>
          <a:p>
            <a:pPr>
              <a:lnSpc>
                <a:spcPct val="130000"/>
              </a:lnSpc>
              <a:spcAft>
                <a:spcPts val="1200"/>
              </a:spcAft>
              <a:defRPr sz="2000">
                <a:solidFill>
                  <a:srgbClr val="323232"/>
                </a:solidFill>
              </a:defRPr>
            </a:pPr>
            <a:r>
              <a:t>Profitability is outstanding, highlighted by a 51.79% profit margin and an impressive 107.41% Return on Investment (ROI), underscoring highly effective cost management with a Cost Efficiency ratio of 2.07.</a:t>
            </a:r>
          </a:p>
          <a:p>
            <a:pPr>
              <a:lnSpc>
                <a:spcPct val="130000"/>
              </a:lnSpc>
              <a:spcAft>
                <a:spcPts val="1200"/>
              </a:spcAft>
              <a:defRPr sz="2000">
                <a:solidFill>
                  <a:srgbClr val="323232"/>
                </a:solidFill>
              </a:defRPr>
            </a:pPr>
            <a:r>
              <a:t>Engagement metrics—Clicks, Impressions, and Conversions—all show positive, increasing trends, directly correlating with revenue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2E86AB"/>
          </a:solidFill>
          <a:ln>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822960"/>
          </a:xfrm>
          <a:prstGeom prst="rect">
            <a:avLst/>
          </a:prstGeom>
          <a:noFill/>
        </p:spPr>
        <p:txBody>
          <a:bodyPr wrap="none" bIns="91440">
            <a:spAutoFit/>
          </a:bodyPr>
          <a:lstStyle/>
          <a:p>
            <a:pPr algn="l">
              <a:defRPr sz="3600" b="1">
                <a:solidFill>
                  <a:srgbClr val="FFFFFF"/>
                </a:solidFill>
              </a:defRPr>
            </a:pPr>
            <a:r>
              <a:t>Executive Summary (continued)</a:t>
            </a:r>
          </a:p>
        </p:txBody>
      </p:sp>
      <p:sp>
        <p:nvSpPr>
          <p:cNvPr id="4" name="TextBox 3"/>
          <p:cNvSpPr txBox="1"/>
          <p:nvPr/>
        </p:nvSpPr>
        <p:spPr>
          <a:xfrm>
            <a:off x="457200" y="1371600"/>
            <a:ext cx="8229600" cy="5029200"/>
          </a:xfrm>
          <a:prstGeom prst="rect">
            <a:avLst/>
          </a:prstGeom>
          <a:noFill/>
        </p:spPr>
        <p:txBody>
          <a:bodyPr wrap="square" lIns="182880" rIns="182880" tIns="91440" bIns="91440"/>
          <a:lstStyle/>
          <a:p>
            <a:pPr>
              <a:lnSpc>
                <a:spcPct val="130000"/>
              </a:lnSpc>
              <a:spcAft>
                <a:spcPts val="1200"/>
              </a:spcAft>
              <a:defRPr sz="2000">
                <a:solidFill>
                  <a:srgbClr val="323232"/>
                </a:solidFill>
              </a:defRPr>
            </a:pPr>
            <a:r>
              <a:t>Our market share, while dynamic, demonstrates an upward trajectory, peak.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2E86AB"/>
          </a:solidFill>
          <a:ln>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822960"/>
          </a:xfrm>
          <a:prstGeom prst="rect">
            <a:avLst/>
          </a:prstGeom>
          <a:noFill/>
        </p:spPr>
        <p:txBody>
          <a:bodyPr wrap="none" bIns="91440">
            <a:spAutoFit/>
          </a:bodyPr>
          <a:lstStyle/>
          <a:p>
            <a:pPr algn="l">
              <a:defRPr sz="3600" b="1">
                <a:solidFill>
                  <a:srgbClr val="FFFFFF"/>
                </a:solidFill>
              </a:defRPr>
            </a:pPr>
            <a:r>
              <a:t>Key Findings</a:t>
            </a:r>
          </a:p>
        </p:txBody>
      </p:sp>
      <p:sp>
        <p:nvSpPr>
          <p:cNvPr id="4" name="TextBox 3"/>
          <p:cNvSpPr txBox="1"/>
          <p:nvPr/>
        </p:nvSpPr>
        <p:spPr>
          <a:xfrm>
            <a:off x="457200" y="1371600"/>
            <a:ext cx="8229600" cy="5029200"/>
          </a:xfrm>
          <a:prstGeom prst="rect">
            <a:avLst/>
          </a:prstGeom>
          <a:noFill/>
        </p:spPr>
        <p:txBody>
          <a:bodyPr wrap="square" lIns="182880" rIns="182880" tIns="91440" bIns="91440"/>
          <a:lstStyle/>
          <a:p>
            <a:pPr>
              <a:lnSpc>
                <a:spcPct val="120000"/>
              </a:lnSpc>
              <a:spcAft>
                <a:spcPts val="1200"/>
              </a:spcAft>
              <a:defRPr sz="2000">
                <a:solidFill>
                  <a:srgbClr val="323232"/>
                </a:solidFill>
              </a:defRPr>
            </a:pPr>
            <a:r>
              <a:t>• Here are 5 strategic business findings extracted from the provided metrics:</a:t>
            </a:r>
            <a:br/>
            <a:br/>
            <a:r>
              <a:t>Hyper-Predictive Revenue Funnel Enables Aggressive, Low-Risk Scaling: The almost perfect correlation (1</a:t>
            </a:r>
          </a:p>
          <a:p>
            <a:pPr>
              <a:lnSpc>
                <a:spcPct val="120000"/>
              </a:lnSpc>
              <a:spcAft>
                <a:spcPts val="1200"/>
              </a:spcAft>
              <a:defRPr sz="2000">
                <a:solidFill>
                  <a:srgbClr val="323232"/>
                </a:solidFill>
              </a:defRPr>
            </a:pPr>
            <a:r>
              <a:t>• between Clicks, Conversions, Cost, and Revenue, combined with a 0</a:t>
            </a:r>
          </a:p>
          <a:p>
            <a:pPr>
              <a:lnSpc>
                <a:spcPct val="120000"/>
              </a:lnSpc>
              <a:spcAft>
                <a:spcPts val="1200"/>
              </a:spcAft>
              <a:defRPr sz="2000">
                <a:solidFill>
                  <a:srgbClr val="323232"/>
                </a:solidFill>
              </a:defRPr>
            </a:pPr>
            <a:r>
              <a:t>• correlation with Impressions, reveals an exceptionally predictable revenue generation model</a:t>
            </a:r>
          </a:p>
          <a:p>
            <a:pPr>
              <a:lnSpc>
                <a:spcPct val="120000"/>
              </a:lnSpc>
              <a:spcAft>
                <a:spcPts val="1200"/>
              </a:spcAft>
              <a:defRPr sz="2000">
                <a:solidFill>
                  <a:srgbClr val="323232"/>
                </a:solidFill>
              </a:defRPr>
            </a:pPr>
            <a:r>
              <a:t>• This isn't merely a strong relationship; it implies that within current operational parameters, the business possesses a highly optimized and deterministic conversion funnel</a:t>
            </a:r>
          </a:p>
          <a:p>
            <a:pPr>
              <a:lnSpc>
                <a:spcPct val="120000"/>
              </a:lnSpc>
              <a:spcAft>
                <a:spcPts val="1200"/>
              </a:spcAft>
              <a:defRPr sz="2000">
                <a:solidFill>
                  <a:srgbClr val="323232"/>
                </a:solidFill>
              </a:defRPr>
            </a:pPr>
            <a:r>
              <a:t>• This provides a significant competitive advantage for aggressively increasing marketing spend and acquiring more impressions/clicks, as the resulting conversions and revenue are virtually guaranteed, allowing for confident, low-risk scaling of successful campaigns to maximize profit and market share</a:t>
            </a:r>
          </a:p>
        </p:txBody>
      </p:sp>
      <p:pic>
        <p:nvPicPr>
          <p:cNvPr id="5" name="Picture 4" descr="chart_20251203_132132_617938.png"/>
          <p:cNvPicPr>
            <a:picLocks noChangeAspect="1"/>
          </p:cNvPicPr>
          <p:nvPr/>
        </p:nvPicPr>
        <p:blipFill>
          <a:blip r:embed="rId2"/>
          <a:stretch>
            <a:fillRect/>
          </a:stretch>
        </p:blipFill>
        <p:spPr>
          <a:xfrm>
            <a:off x="5029200" y="2743200"/>
            <a:ext cx="3657600" cy="2743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2E86AB"/>
          </a:solidFill>
          <a:ln>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822960"/>
          </a:xfrm>
          <a:prstGeom prst="rect">
            <a:avLst/>
          </a:prstGeom>
          <a:noFill/>
        </p:spPr>
        <p:txBody>
          <a:bodyPr wrap="none" bIns="91440">
            <a:spAutoFit/>
          </a:bodyPr>
          <a:lstStyle/>
          <a:p>
            <a:pPr algn="l">
              <a:defRPr sz="3600" b="1">
                <a:solidFill>
                  <a:srgbClr val="FFFFFF"/>
                </a:solidFill>
              </a:defRPr>
            </a:pPr>
            <a:r>
              <a:t>Data Statistics</a:t>
            </a:r>
          </a:p>
        </p:txBody>
      </p:sp>
      <p:sp>
        <p:nvSpPr>
          <p:cNvPr id="4" name="TextBox 3"/>
          <p:cNvSpPr txBox="1"/>
          <p:nvPr/>
        </p:nvSpPr>
        <p:spPr>
          <a:xfrm>
            <a:off x="457200" y="1371600"/>
            <a:ext cx="8229600" cy="5029200"/>
          </a:xfrm>
          <a:prstGeom prst="rect">
            <a:avLst/>
          </a:prstGeom>
          <a:noFill/>
        </p:spPr>
        <p:txBody>
          <a:bodyPr wrap="square" lIns="182880" rIns="182880" tIns="91440" bIns="91440"/>
          <a:lstStyle/>
          <a:p>
            <a:pPr>
              <a:lnSpc>
                <a:spcPct val="120000"/>
              </a:lnSpc>
              <a:spcAft>
                <a:spcPts val="1200"/>
              </a:spcAft>
              <a:defRPr sz="2000">
                <a:solidFill>
                  <a:srgbClr val="323232"/>
                </a:solidFill>
              </a:defRPr>
            </a:pPr>
            <a:r>
              <a:t>• Total Records: 20</a:t>
            </a:r>
          </a:p>
          <a:p>
            <a:pPr>
              <a:lnSpc>
                <a:spcPct val="120000"/>
              </a:lnSpc>
              <a:spcAft>
                <a:spcPts val="1200"/>
              </a:spcAft>
              <a:defRPr sz="2000">
                <a:solidFill>
                  <a:srgbClr val="323232"/>
                </a:solidFill>
              </a:defRPr>
            </a:pPr>
            <a:r>
              <a:t>• Total Columns: 7</a:t>
            </a:r>
          </a:p>
          <a:p>
            <a:pPr>
              <a:lnSpc>
                <a:spcPct val="120000"/>
              </a:lnSpc>
              <a:spcAft>
                <a:spcPts val="1200"/>
              </a:spcAft>
              <a:defRPr sz="2000">
                <a:solidFill>
                  <a:srgbClr val="323232"/>
                </a:solidFill>
              </a:defRPr>
            </a:pPr>
            <a:r>
              <a:t>• Columns: Date, Campaign, Clicks, Impressions, Conversions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2E86AB"/>
          </a:solidFill>
          <a:ln>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822960"/>
          </a:xfrm>
          <a:prstGeom prst="rect">
            <a:avLst/>
          </a:prstGeom>
          <a:noFill/>
        </p:spPr>
        <p:txBody>
          <a:bodyPr wrap="none" bIns="91440">
            <a:spAutoFit/>
          </a:bodyPr>
          <a:lstStyle/>
          <a:p>
            <a:pPr algn="l">
              <a:defRPr sz="3600" b="1">
                <a:solidFill>
                  <a:srgbClr val="FFFFFF"/>
                </a:solidFill>
              </a:defRPr>
            </a:pPr>
            <a:r>
              <a:t>Recommendations</a:t>
            </a:r>
          </a:p>
        </p:txBody>
      </p:sp>
      <p:sp>
        <p:nvSpPr>
          <p:cNvPr id="4" name="TextBox 3"/>
          <p:cNvSpPr txBox="1"/>
          <p:nvPr/>
        </p:nvSpPr>
        <p:spPr>
          <a:xfrm>
            <a:off x="457200" y="1371600"/>
            <a:ext cx="8229600" cy="5029200"/>
          </a:xfrm>
          <a:prstGeom prst="rect">
            <a:avLst/>
          </a:prstGeom>
          <a:noFill/>
        </p:spPr>
        <p:txBody>
          <a:bodyPr wrap="square" lIns="182880" rIns="182880" tIns="91440" bIns="91440"/>
          <a:lstStyle/>
          <a:p>
            <a:pPr>
              <a:lnSpc>
                <a:spcPct val="120000"/>
              </a:lnSpc>
              <a:spcAft>
                <a:spcPts val="1200"/>
              </a:spcAft>
              <a:defRPr sz="2000">
                <a:solidFill>
                  <a:srgbClr val="323232"/>
                </a:solidFill>
              </a:defRPr>
            </a:pPr>
            <a:r>
              <a:t>• Here are 5 strategic, high-impact recommendations based on your business metrics:</a:t>
            </a:r>
            <a:br/>
            <a:br/>
            <a:r>
              <a:t>Aggressively Scale &amp; Replicate Top-Performing Segments</a:t>
            </a:r>
            <a:br/>
            <a:r>
              <a:t>Clear Action Statement: Immediately reallocate resources to aggressively scale marketing and sales efforts for the identified top-performing segments (e</a:t>
            </a:r>
          </a:p>
          <a:p>
            <a:pPr>
              <a:lnSpc>
                <a:spcPct val="120000"/>
              </a:lnSpc>
              <a:spcAft>
                <a:spcPts val="1200"/>
              </a:spcAft>
              <a:defRPr sz="2000">
                <a:solidFill>
                  <a:srgbClr val="323232"/>
                </a:solidFill>
              </a:defRPr>
            </a:pPr>
            <a:r>
              <a:t>• g</a:t>
            </a:r>
          </a:p>
          <a:p>
            <a:pPr>
              <a:lnSpc>
                <a:spcPct val="120000"/>
              </a:lnSpc>
              <a:spcAft>
                <a:spcPts val="1200"/>
              </a:spcAft>
              <a:defRPr sz="2000">
                <a:solidFill>
                  <a:srgbClr val="323232"/>
                </a:solidFill>
              </a:defRPr>
            </a:pPr>
            <a:r>
              <a:t>• , 2024-01-20, 2024-01-17, 2024-01-14, 2024-01-11), which consistently demonstrate high Clicks, Conversions, and Revenue</a:t>
            </a:r>
          </a:p>
          <a:p>
            <a:pPr>
              <a:lnSpc>
                <a:spcPct val="120000"/>
              </a:lnSpc>
              <a:spcAft>
                <a:spcPts val="1200"/>
              </a:spcAft>
              <a:defRPr sz="2000">
                <a:solidFill>
                  <a:srgbClr val="323232"/>
                </a:solidFill>
              </a:defRPr>
            </a:pPr>
            <a:r>
              <a:t>• Simultaneously, conduct a rapid analysis of these segments to pinpoint specific success factors (e</a:t>
            </a:r>
          </a:p>
          <a:p>
            <a:pPr>
              <a:lnSpc>
                <a:spcPct val="120000"/>
              </a:lnSpc>
              <a:spcAft>
                <a:spcPts val="1200"/>
              </a:spcAft>
              <a:defRPr sz="2000">
                <a:solidFill>
                  <a:srgbClr val="323232"/>
                </a:solidFill>
              </a:defRPr>
            </a:pPr>
            <a:r>
              <a:t>• 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