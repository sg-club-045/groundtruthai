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Automated Insight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Data Analysis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Generated: December 03,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182880" rIns="182880" tIns="91440" bIns="91440"/>
          <a:lstStyle/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## Executive Summary: Strategic Performance Review &amp; Growth Imperatives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Current State &amp; Performance Indicators: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The business demonstrates a robust operational foundation, reflected in a strong Profit Margin of 37.89% and an impressive Return on Investment (ROI) of 60.99%. Total revenue currently stands at $49.5 million. Customer satisfaction is excellent, evidenced by an average Rating of 4.79 and a low Return Rate of 2.03%. These metrics highlight a high-quality product/service and efficient core operations.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Strategic Opportunities &amp; Threats: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Executive Summary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182880" rIns="182880" tIns="91440" bIns="91440"/>
          <a:lstStyle/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Opportunities: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1. Proven High Performance: The existence of numerous high-performing segments (e.g., 117 in UnitsSold, 104 in Revenue) presents immediate, low-effort opportunities to scale successful models and drive rapid revenue growth.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23232"/>
                </a:solidFill>
              </a:defRPr>
            </a:pPr>
            <a:r>
              <a:t>2. Customer Loyalty &amp; Quality: High customer ratings and low return rates indicate a strong product-market fit and loyal customer base, which can be leveraged for expansion and competitive differentiation.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182880" rIns="182880" tIns="91440" bIns="91440"/>
          <a:lstStyle/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Pricing/Product Mix Anomaly: Increased Sales Volume Negatively Impacts Revenue and Cost.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Untapped Customer Lifetime Value: Low Repeat Purchase Rate Limits Revenue Growth.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Quality-Driven Competitive Advantage: High Customer Satisfaction Linked to Reduced Returns.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Operational Instability: High Volatility in Demand and Customer Acquisition Hinders Efficiency.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Seasonal or Segmented Market Dominance: Significant but Inconsistent Market Share Peaks.</a:t>
            </a:r>
          </a:p>
        </p:txBody>
      </p:sp>
      <p:pic>
        <p:nvPicPr>
          <p:cNvPr id="5" name="Picture 4" descr="chart_20251203_131344_7622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432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Data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182880" rIns="182880" tIns="91440" bIns="91440"/>
          <a:lstStyle/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Total Records: 366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Total Columns: 14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Columns: Date, ProductCategory, ProductName, Region, Channel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822960"/>
          </a:xfrm>
          <a:prstGeom prst="rect">
            <a:avLst/>
          </a:prstGeom>
          <a:noFill/>
        </p:spPr>
        <p:txBody>
          <a:bodyPr wrap="none" bIns="91440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lIns="182880" rIns="182880" tIns="91440" bIns="91440"/>
          <a:lstStyle/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Recalibrate Pricing and Product Mix for Profitable Growth.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Scale High-Performing Segments and Replicate Success Drivers.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Implement Predictive Analytics for Demand and Customer Volatility Mitigation.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Strategically Optimize Costs for Enhanced Profitability and Value.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Enhance Customer Loyalty and Market Penetration with Data-Driven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